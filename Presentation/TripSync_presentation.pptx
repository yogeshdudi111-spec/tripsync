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 Bold" charset="1" panose="020B0704020202020204"/>
      <p:regular r:id="rId24"/>
    </p:embeddedFont>
    <p:embeddedFont>
      <p:font typeface="Open Sans Bold" charset="1" panose="00000000000000000000"/>
      <p:regular r:id="rId25"/>
    </p:embeddedFont>
    <p:embeddedFont>
      <p:font typeface="Open Sans" charset="1" panose="00000000000000000000"/>
      <p:regular r:id="rId26"/>
    </p:embeddedFont>
    <p:embeddedFont>
      <p:font typeface="Open Sans Bold Italics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19" Target="../media/image19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20.svg" Type="http://schemas.openxmlformats.org/officeDocument/2006/relationships/image"/><Relationship Id="rId21" Target="../media/image21.png" Type="http://schemas.openxmlformats.org/officeDocument/2006/relationships/image"/><Relationship Id="rId22" Target="../media/image22.svg" Type="http://schemas.openxmlformats.org/officeDocument/2006/relationships/image"/><Relationship Id="rId23" Target="../media/image23.png" Type="http://schemas.openxmlformats.org/officeDocument/2006/relationships/image"/><Relationship Id="rId24" Target="../media/image24.sv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39.png" Type="http://schemas.openxmlformats.org/officeDocument/2006/relationships/image"/><Relationship Id="rId14" Target="../media/image40.sv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17" Target="../media/image43.png" Type="http://schemas.openxmlformats.org/officeDocument/2006/relationships/image"/><Relationship Id="rId18" Target="../media/image44.svg" Type="http://schemas.openxmlformats.org/officeDocument/2006/relationships/image"/><Relationship Id="rId19" Target="../media/image45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46.svg" Type="http://schemas.openxmlformats.org/officeDocument/2006/relationships/image"/><Relationship Id="rId21" Target="../media/image47.png" Type="http://schemas.openxmlformats.org/officeDocument/2006/relationships/image"/><Relationship Id="rId22" Target="../media/image48.svg" Type="http://schemas.openxmlformats.org/officeDocument/2006/relationships/image"/><Relationship Id="rId23" Target="../media/image49.png" Type="http://schemas.openxmlformats.org/officeDocument/2006/relationships/image"/><Relationship Id="rId24" Target="../media/image50.sv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15" Target="../media/image63.png" Type="http://schemas.openxmlformats.org/officeDocument/2006/relationships/image"/><Relationship Id="rId16" Target="../media/image64.svg" Type="http://schemas.openxmlformats.org/officeDocument/2006/relationships/image"/><Relationship Id="rId17" Target="../media/image65.png" Type="http://schemas.openxmlformats.org/officeDocument/2006/relationships/image"/><Relationship Id="rId18" Target="../media/image66.svg" Type="http://schemas.openxmlformats.org/officeDocument/2006/relationships/image"/><Relationship Id="rId19" Target="../media/image67.pn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68.svg" Type="http://schemas.openxmlformats.org/officeDocument/2006/relationships/image"/><Relationship Id="rId21" Target="../media/image69.png" Type="http://schemas.openxmlformats.org/officeDocument/2006/relationships/image"/><Relationship Id="rId22" Target="../media/image70.svg" Type="http://schemas.openxmlformats.org/officeDocument/2006/relationships/image"/><Relationship Id="rId23" Target="../media/image71.png" Type="http://schemas.openxmlformats.org/officeDocument/2006/relationships/image"/><Relationship Id="rId24" Target="../media/image72.svg" Type="http://schemas.openxmlformats.org/officeDocument/2006/relationships/image"/><Relationship Id="rId25" Target="../media/image73.png" Type="http://schemas.openxmlformats.org/officeDocument/2006/relationships/image"/><Relationship Id="rId26" Target="../media/image74.sv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5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svg" Type="http://schemas.openxmlformats.org/officeDocument/2006/relationships/image"/><Relationship Id="rId12" Target="../media/image88.png" Type="http://schemas.openxmlformats.org/officeDocument/2006/relationships/image"/><Relationship Id="rId13" Target="../media/image89.svg" Type="http://schemas.openxmlformats.org/officeDocument/2006/relationships/image"/><Relationship Id="rId14" Target="../media/image90.png" Type="http://schemas.openxmlformats.org/officeDocument/2006/relationships/image"/><Relationship Id="rId15" Target="../media/image91.svg" Type="http://schemas.openxmlformats.org/officeDocument/2006/relationships/image"/><Relationship Id="rId16" Target="../media/image92.png" Type="http://schemas.openxmlformats.org/officeDocument/2006/relationships/image"/><Relationship Id="rId17" Target="../media/image93.svg" Type="http://schemas.openxmlformats.org/officeDocument/2006/relationships/image"/><Relationship Id="rId2" Target="../notesSlides/notesSlide8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81.jpeg" Type="http://schemas.openxmlformats.org/officeDocument/2006/relationships/image"/><Relationship Id="rId6" Target="../media/image82.png" Type="http://schemas.openxmlformats.org/officeDocument/2006/relationships/image"/><Relationship Id="rId7" Target="../media/image83.svg" Type="http://schemas.openxmlformats.org/officeDocument/2006/relationships/image"/><Relationship Id="rId8" Target="../media/image84.png" Type="http://schemas.openxmlformats.org/officeDocument/2006/relationships/image"/><Relationship Id="rId9" Target="../media/image8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svg" Type="http://schemas.openxmlformats.org/officeDocument/2006/relationships/image"/><Relationship Id="rId12" Target="../media/image103.png" Type="http://schemas.openxmlformats.org/officeDocument/2006/relationships/image"/><Relationship Id="rId13" Target="../media/image104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94.png" Type="http://schemas.openxmlformats.org/officeDocument/2006/relationships/image"/><Relationship Id="rId4" Target="../media/image95.png" Type="http://schemas.openxmlformats.org/officeDocument/2006/relationships/image"/><Relationship Id="rId5" Target="../media/image96.svg" Type="http://schemas.openxmlformats.org/officeDocument/2006/relationships/image"/><Relationship Id="rId6" Target="../media/image97.png" Type="http://schemas.openxmlformats.org/officeDocument/2006/relationships/image"/><Relationship Id="rId7" Target="../media/image98.svg" Type="http://schemas.openxmlformats.org/officeDocument/2006/relationships/image"/><Relationship Id="rId8" Target="../media/image99.png" Type="http://schemas.openxmlformats.org/officeDocument/2006/relationships/image"/><Relationship Id="rId9" Target="../media/image10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0.png" Type="http://schemas.openxmlformats.org/officeDocument/2006/relationships/image"/><Relationship Id="rId11" Target="../media/image111.svg" Type="http://schemas.openxmlformats.org/officeDocument/2006/relationships/image"/><Relationship Id="rId12" Target="../media/image112.png" Type="http://schemas.openxmlformats.org/officeDocument/2006/relationships/image"/><Relationship Id="rId13" Target="../media/image113.svg" Type="http://schemas.openxmlformats.org/officeDocument/2006/relationships/image"/><Relationship Id="rId14" Target="../media/image114.png" Type="http://schemas.openxmlformats.org/officeDocument/2006/relationships/image"/><Relationship Id="rId15" Target="../media/image115.svg" Type="http://schemas.openxmlformats.org/officeDocument/2006/relationships/image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105.jpeg" Type="http://schemas.openxmlformats.org/officeDocument/2006/relationships/image"/><Relationship Id="rId6" Target="../media/image106.png" Type="http://schemas.openxmlformats.org/officeDocument/2006/relationships/image"/><Relationship Id="rId7" Target="../media/image107.svg" Type="http://schemas.openxmlformats.org/officeDocument/2006/relationships/image"/><Relationship Id="rId8" Target="../media/image108.png" Type="http://schemas.openxmlformats.org/officeDocument/2006/relationships/image"/><Relationship Id="rId9" Target="../media/image10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17.png" Type="http://schemas.openxmlformats.org/officeDocument/2006/relationships/image"/><Relationship Id="rId4" Target="../media/image118.svg" Type="http://schemas.openxmlformats.org/officeDocument/2006/relationships/image"/><Relationship Id="rId5" Target="../media/image11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2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12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759076"/>
            <a:ext cx="9452677" cy="125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3"/>
              </a:lnSpc>
            </a:pPr>
            <a:r>
              <a:rPr lang="en-US" sz="7430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TripSync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2372268"/>
            <a:ext cx="9452677" cy="141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27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Collaborative Travel Planner &amp; Trust Platform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4079072"/>
            <a:ext cx="9452677" cy="539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 b="true">
                <a:solidFill>
                  <a:srgbClr val="1A1A1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By:</a:t>
            </a: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702" i="true">
                <a:solidFill>
                  <a:srgbClr val="1A1A1A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Yogesh</a:t>
            </a:r>
          </a:p>
          <a:p>
            <a:pPr algn="l">
              <a:lnSpc>
                <a:spcPts val="4247"/>
              </a:lnSpc>
            </a:pPr>
            <a:r>
              <a:rPr lang="en-US" sz="2702" b="true">
                <a:solidFill>
                  <a:srgbClr val="1A1A1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Roll No:</a:t>
            </a: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702" i="true">
                <a:solidFill>
                  <a:srgbClr val="1A1A1A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2402009325</a:t>
            </a:r>
          </a:p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Course: BCA</a:t>
            </a:r>
          </a:p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Institution: Chandigarh School of Business</a:t>
            </a:r>
          </a:p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Summer Training: Web Technology (15 June 2026 – 10 July 2026)</a:t>
            </a:r>
          </a:p>
          <a:p>
            <a:pPr algn="l">
              <a:lnSpc>
                <a:spcPts val="4247"/>
              </a:lnSpc>
            </a:pPr>
            <a:r>
              <a:rPr lang="en-US" sz="2702" b="true">
                <a:solidFill>
                  <a:srgbClr val="1A1A1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Trainer:</a:t>
            </a: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702" i="true">
                <a:solidFill>
                  <a:srgbClr val="1A1A1A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Mehak Thakur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157193"/>
            <a:ext cx="16315868" cy="7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Problem with Group Travel Planning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8641" y="3330102"/>
            <a:ext cx="8220485" cy="4769501"/>
            <a:chOff x="0" y="0"/>
            <a:chExt cx="10960646" cy="63593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60735" cy="6359398"/>
            </a:xfrm>
            <a:custGeom>
              <a:avLst/>
              <a:gdLst/>
              <a:ahLst/>
              <a:cxnLst/>
              <a:rect r="r" b="b" t="t" l="l"/>
              <a:pathLst>
                <a:path h="6359398" w="10960735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0688320" y="0"/>
                  </a:lnTo>
                  <a:cubicBezTo>
                    <a:pt x="10838688" y="0"/>
                    <a:pt x="10960735" y="121920"/>
                    <a:pt x="10960735" y="272415"/>
                  </a:cubicBezTo>
                  <a:lnTo>
                    <a:pt x="10960735" y="6086983"/>
                  </a:lnTo>
                  <a:cubicBezTo>
                    <a:pt x="10960735" y="6237351"/>
                    <a:pt x="10838814" y="6359398"/>
                    <a:pt x="10688320" y="6359398"/>
                  </a:cubicBezTo>
                  <a:lnTo>
                    <a:pt x="272415" y="6359398"/>
                  </a:lnTo>
                  <a:cubicBezTo>
                    <a:pt x="121920" y="6359271"/>
                    <a:pt x="0" y="6237351"/>
                    <a:pt x="0" y="6086983"/>
                  </a:cubicBezTo>
                  <a:close/>
                </a:path>
              </a:pathLst>
            </a:custGeom>
            <a:solidFill>
              <a:srgbClr val="F4FBF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2372" y="3585267"/>
            <a:ext cx="765302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Before TripSync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2372" y="4264638"/>
            <a:ext cx="7653023" cy="373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💬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Scattered communication across chats, calls, and reminders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📅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Disconnected planning across bookings, budgets, and itineraries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⚠️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Too much friction when updates keep shifting and decisions get lost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02248" y="3330102"/>
            <a:ext cx="8220485" cy="4769501"/>
            <a:chOff x="0" y="0"/>
            <a:chExt cx="10960646" cy="63593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60735" cy="6359398"/>
            </a:xfrm>
            <a:custGeom>
              <a:avLst/>
              <a:gdLst/>
              <a:ahLst/>
              <a:cxnLst/>
              <a:rect r="r" b="b" t="t" l="l"/>
              <a:pathLst>
                <a:path h="6359398" w="10960735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0688320" y="0"/>
                  </a:lnTo>
                  <a:cubicBezTo>
                    <a:pt x="10838688" y="0"/>
                    <a:pt x="10960735" y="121920"/>
                    <a:pt x="10960735" y="272415"/>
                  </a:cubicBezTo>
                  <a:lnTo>
                    <a:pt x="10960735" y="6086983"/>
                  </a:lnTo>
                  <a:cubicBezTo>
                    <a:pt x="10960735" y="6237351"/>
                    <a:pt x="10838814" y="6359398"/>
                    <a:pt x="10688320" y="6359398"/>
                  </a:cubicBezTo>
                  <a:lnTo>
                    <a:pt x="272415" y="6359398"/>
                  </a:lnTo>
                  <a:cubicBezTo>
                    <a:pt x="121920" y="6359271"/>
                    <a:pt x="0" y="6237351"/>
                    <a:pt x="0" y="6086983"/>
                  </a:cubicBezTo>
                  <a:close/>
                </a:path>
              </a:pathLst>
            </a:custGeom>
            <a:solidFill>
              <a:srgbClr val="EDF8F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85979" y="3585267"/>
            <a:ext cx="765302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After TripSync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85979" y="4264638"/>
            <a:ext cx="7653023" cy="373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Centralized planning in one shared workspace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🤝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Seamless real-time coordination for everyone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🔒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Trusted and secure with built-in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56533"/>
            <a:ext cx="16315868" cy="9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Our Mission &amp; Audience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309555"/>
            <a:ext cx="7822663" cy="45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Objectives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3067069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5" y="0"/>
                </a:lnTo>
                <a:lnTo>
                  <a:pt x="549735" y="549754"/>
                </a:lnTo>
                <a:lnTo>
                  <a:pt x="0" y="549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75463" y="2996546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Simplify collaborative travel planning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991" y="4174912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5" y="0"/>
                </a:lnTo>
                <a:lnTo>
                  <a:pt x="549735" y="549755"/>
                </a:lnTo>
                <a:lnTo>
                  <a:pt x="0" y="549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75463" y="4104399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Improve financial transparency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92991" y="5282765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5" y="0"/>
                </a:lnTo>
                <a:lnTo>
                  <a:pt x="549735" y="549754"/>
                </a:lnTo>
                <a:lnTo>
                  <a:pt x="0" y="5497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8104" t="0" r="-1810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75463" y="5212242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Build trust among travelers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991" y="6390608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5" y="0"/>
                </a:lnTo>
                <a:lnTo>
                  <a:pt x="549735" y="549755"/>
                </a:lnTo>
                <a:lnTo>
                  <a:pt x="0" y="549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585" r="0" b="-258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75463" y="6320095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Organize itineraries efficiently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991" y="7498461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5" y="0"/>
                </a:lnTo>
                <a:lnTo>
                  <a:pt x="549735" y="549754"/>
                </a:lnTo>
                <a:lnTo>
                  <a:pt x="0" y="5497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75463" y="7427947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Reduce planning confusion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5720" y="2309555"/>
            <a:ext cx="7822663" cy="45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Target Users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495720" y="3067069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6" y="0"/>
                </a:lnTo>
                <a:lnTo>
                  <a:pt x="549736" y="549754"/>
                </a:lnTo>
                <a:lnTo>
                  <a:pt x="0" y="5497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4656" t="0" r="-14658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378192" y="2996546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Friends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495720" y="4174912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6" y="0"/>
                </a:lnTo>
                <a:lnTo>
                  <a:pt x="549736" y="549755"/>
                </a:lnTo>
                <a:lnTo>
                  <a:pt x="0" y="5497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3449" t="0" r="-3449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378192" y="4104399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Families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495720" y="5282765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6" y="0"/>
                </a:lnTo>
                <a:lnTo>
                  <a:pt x="549736" y="549754"/>
                </a:lnTo>
                <a:lnTo>
                  <a:pt x="0" y="54975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7756" r="0" b="-775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378192" y="5212242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Backpackers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9495720" y="6390608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6" y="0"/>
                </a:lnTo>
                <a:lnTo>
                  <a:pt x="549736" y="549755"/>
                </a:lnTo>
                <a:lnTo>
                  <a:pt x="0" y="54975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2071" t="0" r="-12071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378192" y="6320095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Digital Nomads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9495720" y="7498461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6" y="0"/>
                </a:lnTo>
                <a:lnTo>
                  <a:pt x="549736" y="549754"/>
                </a:lnTo>
                <a:lnTo>
                  <a:pt x="0" y="54975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23278" t="0" r="-23278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378192" y="7427947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Corporate Teams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9495720" y="8606314"/>
            <a:ext cx="549735" cy="549754"/>
          </a:xfrm>
          <a:custGeom>
            <a:avLst/>
            <a:gdLst/>
            <a:ahLst/>
            <a:cxnLst/>
            <a:rect r="r" b="b" t="t" l="l"/>
            <a:pathLst>
              <a:path h="549754" w="549735">
                <a:moveTo>
                  <a:pt x="0" y="0"/>
                </a:moveTo>
                <a:lnTo>
                  <a:pt x="549736" y="0"/>
                </a:lnTo>
                <a:lnTo>
                  <a:pt x="549736" y="549754"/>
                </a:lnTo>
                <a:lnTo>
                  <a:pt x="0" y="54975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-18102" r="0" b="-1810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378192" y="8535791"/>
            <a:ext cx="6940191" cy="64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70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Student Groups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859024"/>
            <a:ext cx="16315868" cy="7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Technical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4173874"/>
            <a:ext cx="4078891" cy="1134961"/>
            <a:chOff x="0" y="0"/>
            <a:chExt cx="5438521" cy="151328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5438521" cy="1513332"/>
            </a:xfrm>
            <a:custGeom>
              <a:avLst/>
              <a:gdLst/>
              <a:ahLst/>
              <a:cxnLst/>
              <a:rect r="r" b="b" t="t" l="l"/>
              <a:pathLst>
                <a:path h="1513332" w="5438521">
                  <a:moveTo>
                    <a:pt x="0" y="0"/>
                  </a:moveTo>
                  <a:lnTo>
                    <a:pt x="5438521" y="0"/>
                  </a:lnTo>
                  <a:lnTo>
                    <a:pt x="5438521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1" r="0" b="-37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6721" y="5563991"/>
            <a:ext cx="3511429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User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721" y="6129871"/>
            <a:ext cx="3511429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Web and mobile interfaces.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71882" y="4173874"/>
            <a:ext cx="4079043" cy="1134961"/>
            <a:chOff x="0" y="0"/>
            <a:chExt cx="5438724" cy="151328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438775" cy="1513332"/>
            </a:xfrm>
            <a:custGeom>
              <a:avLst/>
              <a:gdLst/>
              <a:ahLst/>
              <a:cxnLst/>
              <a:rect r="r" b="b" t="t" l="l"/>
              <a:pathLst>
                <a:path h="1513332" w="5438775">
                  <a:moveTo>
                    <a:pt x="0" y="0"/>
                  </a:moveTo>
                  <a:lnTo>
                    <a:pt x="5438775" y="0"/>
                  </a:lnTo>
                  <a:lnTo>
                    <a:pt x="5438775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3" r="0" b="-37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355612" y="5563991"/>
            <a:ext cx="3511572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55612" y="6129871"/>
            <a:ext cx="3511572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HTML5, CSS3, JavaScript UI.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50925" y="4173874"/>
            <a:ext cx="4078891" cy="1134961"/>
            <a:chOff x="0" y="0"/>
            <a:chExt cx="5438521" cy="151328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438521" cy="1513332"/>
            </a:xfrm>
            <a:custGeom>
              <a:avLst/>
              <a:gdLst/>
              <a:ahLst/>
              <a:cxnLst/>
              <a:rect r="r" b="b" t="t" l="l"/>
              <a:pathLst>
                <a:path h="1513332" w="5438521">
                  <a:moveTo>
                    <a:pt x="0" y="0"/>
                  </a:moveTo>
                  <a:lnTo>
                    <a:pt x="5438521" y="0"/>
                  </a:lnTo>
                  <a:lnTo>
                    <a:pt x="5438521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81" r="0" b="-37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34655" y="5563991"/>
            <a:ext cx="3511429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4655" y="6129871"/>
            <a:ext cx="3511429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Node.js + Express.js API with JWT.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229815" y="4173874"/>
            <a:ext cx="4079043" cy="1134961"/>
            <a:chOff x="0" y="0"/>
            <a:chExt cx="5438724" cy="151328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438775" cy="1513332"/>
            </a:xfrm>
            <a:custGeom>
              <a:avLst/>
              <a:gdLst/>
              <a:ahLst/>
              <a:cxnLst/>
              <a:rect r="r" b="b" t="t" l="l"/>
              <a:pathLst>
                <a:path h="1513332" w="5438775">
                  <a:moveTo>
                    <a:pt x="0" y="0"/>
                  </a:moveTo>
                  <a:lnTo>
                    <a:pt x="5438775" y="0"/>
                  </a:lnTo>
                  <a:lnTo>
                    <a:pt x="5438775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83" r="0" b="-379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513546" y="5563991"/>
            <a:ext cx="3511572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Database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13546" y="6129871"/>
            <a:ext cx="3511572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SQLite stores data securely.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09682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Tech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734199"/>
            <a:ext cx="4920405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3525222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665" r="0" b="-1666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15077" y="3455889"/>
            <a:ext cx="3998319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HTML5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991" y="469547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15077" y="4626150"/>
            <a:ext cx="3998319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CSS3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92991" y="586573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499" r="0" b="-749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15077" y="5796410"/>
            <a:ext cx="3998319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JavaScript (ES6)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15208" y="2734199"/>
            <a:ext cx="509035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Backend &amp; Database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6615208" y="3525222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499" r="0" b="-749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537294" y="3455889"/>
            <a:ext cx="4168254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Node.js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6615208" y="469547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537294" y="4626150"/>
            <a:ext cx="4168254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Express.js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615208" y="586573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6665" r="0" b="-1666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37294" y="5796410"/>
            <a:ext cx="4168254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SQLite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07360" y="2734199"/>
            <a:ext cx="4920405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Tools &amp; Security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12407360" y="3525222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2" y="0"/>
                </a:lnTo>
                <a:lnTo>
                  <a:pt x="567462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2501" t="0" r="-12501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329456" y="3455889"/>
            <a:ext cx="3998319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Chart.js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12407360" y="469547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2" y="0"/>
                </a:lnTo>
                <a:lnTo>
                  <a:pt x="567462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329456" y="4626150"/>
            <a:ext cx="3998319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JWT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12407360" y="586573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2" y="0"/>
                </a:lnTo>
                <a:lnTo>
                  <a:pt x="567462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7499" r="0" b="-7497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329456" y="5796410"/>
            <a:ext cx="3998319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Bcrypt</a:t>
            </a:r>
          </a:p>
        </p:txBody>
      </p:sp>
      <p:sp>
        <p:nvSpPr>
          <p:cNvPr name="Freeform 28" id="28" descr="preencoded.png"/>
          <p:cNvSpPr/>
          <p:nvPr/>
        </p:nvSpPr>
        <p:spPr>
          <a:xfrm flipH="false" flipV="false" rot="0">
            <a:off x="12407360" y="7035994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2" y="0"/>
                </a:lnTo>
                <a:lnTo>
                  <a:pt x="567462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834" t="0" r="-835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329456" y="6966661"/>
            <a:ext cx="3998319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Phoenix IDE</a:t>
            </a:r>
          </a:p>
        </p:txBody>
      </p:sp>
      <p:sp>
        <p:nvSpPr>
          <p:cNvPr name="Freeform 30" id="30" descr="preencoded.png"/>
          <p:cNvSpPr/>
          <p:nvPr/>
        </p:nvSpPr>
        <p:spPr>
          <a:xfrm flipH="false" flipV="false" rot="0">
            <a:off x="12407360" y="8206245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2" y="0"/>
                </a:lnTo>
                <a:lnTo>
                  <a:pt x="567462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329456" y="8136922"/>
            <a:ext cx="3998319" cy="67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Git &amp; GitHub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5440"/>
            <a:ext cx="16315868" cy="59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452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1714052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6"/>
                </a:lnTo>
                <a:lnTo>
                  <a:pt x="0" y="443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991" y="2345150"/>
            <a:ext cx="8049654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Secure Login &amp; Registration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259052" y="1714052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6"/>
                </a:lnTo>
                <a:lnTo>
                  <a:pt x="0" y="4432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445" r="0" b="-744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59052" y="2345150"/>
            <a:ext cx="8049806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User Profiles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991" y="3066317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5"/>
                </a:lnTo>
                <a:lnTo>
                  <a:pt x="0" y="4432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2991" y="3697424"/>
            <a:ext cx="8049654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Trust Verification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259052" y="3066317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5"/>
                </a:lnTo>
                <a:lnTo>
                  <a:pt x="0" y="4432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259052" y="3697424"/>
            <a:ext cx="8049806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Create Trips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92991" y="4418590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6"/>
                </a:lnTo>
                <a:lnTo>
                  <a:pt x="0" y="4432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065" t="0" r="-106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92991" y="5049688"/>
            <a:ext cx="8049654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Join Trips via Invite Code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59052" y="4418590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6"/>
                </a:lnTo>
                <a:lnTo>
                  <a:pt x="0" y="4432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259052" y="5049688"/>
            <a:ext cx="8049806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Shared Dashboard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991" y="5770855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5"/>
                </a:lnTo>
                <a:lnTo>
                  <a:pt x="0" y="4432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2127" r="0" b="-212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92991" y="6401953"/>
            <a:ext cx="8049654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Collaborative Itinerary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259052" y="5770855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5"/>
                </a:lnTo>
                <a:lnTo>
                  <a:pt x="0" y="4432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5318" r="0" b="-531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59052" y="6401953"/>
            <a:ext cx="8049806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Task Management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92991" y="7123119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5"/>
                </a:lnTo>
                <a:lnTo>
                  <a:pt x="0" y="44325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10636" r="0" b="-1063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92991" y="7754217"/>
            <a:ext cx="8049654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Expense Tracker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9259052" y="7123119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5"/>
                </a:lnTo>
                <a:lnTo>
                  <a:pt x="0" y="4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4257" t="0" r="-4257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259052" y="7754217"/>
            <a:ext cx="8049806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Splitwise-style Expense Split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992991" y="8475393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5"/>
                </a:lnTo>
                <a:lnTo>
                  <a:pt x="0" y="4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92991" y="9106491"/>
            <a:ext cx="8049654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Multi Currency Support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9259052" y="8475393"/>
            <a:ext cx="443246" cy="443255"/>
          </a:xfrm>
          <a:custGeom>
            <a:avLst/>
            <a:gdLst/>
            <a:ahLst/>
            <a:cxnLst/>
            <a:rect r="r" b="b" t="t" l="l"/>
            <a:pathLst>
              <a:path h="443255" w="443246">
                <a:moveTo>
                  <a:pt x="0" y="0"/>
                </a:moveTo>
                <a:lnTo>
                  <a:pt x="443246" y="0"/>
                </a:lnTo>
                <a:lnTo>
                  <a:pt x="443246" y="443255"/>
                </a:lnTo>
                <a:lnTo>
                  <a:pt x="0" y="4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23406" t="0" r="-23406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259052" y="9106491"/>
            <a:ext cx="8049806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Team Collaboration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701127"/>
            <a:ext cx="16315868" cy="7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User Journey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3015977"/>
            <a:ext cx="5438575" cy="1134961"/>
            <a:chOff x="0" y="0"/>
            <a:chExt cx="7251433" cy="151328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251446" cy="1513332"/>
            </a:xfrm>
            <a:custGeom>
              <a:avLst/>
              <a:gdLst/>
              <a:ahLst/>
              <a:cxnLst/>
              <a:rect r="r" b="b" t="t" l="l"/>
              <a:pathLst>
                <a:path h="1513332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52" r="0" b="-34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6721" y="4406094"/>
            <a:ext cx="487110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Register / Login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721" y="4971974"/>
            <a:ext cx="487110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Sign in securely.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31556" y="3015977"/>
            <a:ext cx="5438575" cy="1134961"/>
            <a:chOff x="0" y="0"/>
            <a:chExt cx="7251433" cy="151328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251446" cy="1513332"/>
            </a:xfrm>
            <a:custGeom>
              <a:avLst/>
              <a:gdLst/>
              <a:ahLst/>
              <a:cxnLst/>
              <a:rect r="r" b="b" t="t" l="l"/>
              <a:pathLst>
                <a:path h="1513332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2" r="0" b="-34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715296" y="4406094"/>
            <a:ext cx="487110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Create Trip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5296" y="4971974"/>
            <a:ext cx="487110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Start a new trip.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70131" y="3015977"/>
            <a:ext cx="5438575" cy="1134961"/>
            <a:chOff x="0" y="0"/>
            <a:chExt cx="7251433" cy="151328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251446" cy="1513332"/>
            </a:xfrm>
            <a:custGeom>
              <a:avLst/>
              <a:gdLst/>
              <a:ahLst/>
              <a:cxnLst/>
              <a:rect r="r" b="b" t="t" l="l"/>
              <a:pathLst>
                <a:path h="1513332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52" r="0" b="-34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53862" y="4406094"/>
            <a:ext cx="487110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Invite Members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53862" y="4971974"/>
            <a:ext cx="487110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Add trip participants.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991" y="5785895"/>
            <a:ext cx="5438575" cy="1134961"/>
            <a:chOff x="0" y="0"/>
            <a:chExt cx="7251433" cy="151328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251446" cy="1513332"/>
            </a:xfrm>
            <a:custGeom>
              <a:avLst/>
              <a:gdLst/>
              <a:ahLst/>
              <a:cxnLst/>
              <a:rect r="r" b="b" t="t" l="l"/>
              <a:pathLst>
                <a:path h="1513332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52" r="0" b="-349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76721" y="7176021"/>
            <a:ext cx="487110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Plan Itinerary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6721" y="7741891"/>
            <a:ext cx="487110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Organize activities together.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31556" y="5785895"/>
            <a:ext cx="5438575" cy="1134961"/>
            <a:chOff x="0" y="0"/>
            <a:chExt cx="7251433" cy="1513281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7251446" cy="1513332"/>
            </a:xfrm>
            <a:custGeom>
              <a:avLst/>
              <a:gdLst/>
              <a:ahLst/>
              <a:cxnLst/>
              <a:rect r="r" b="b" t="t" l="l"/>
              <a:pathLst>
                <a:path h="1513332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52" r="0" b="-349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715296" y="7176021"/>
            <a:ext cx="487110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Track Expenses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15296" y="7741891"/>
            <a:ext cx="487110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Log and split costs.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870131" y="5785895"/>
            <a:ext cx="5438575" cy="1134961"/>
            <a:chOff x="0" y="0"/>
            <a:chExt cx="7251433" cy="1513281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7251446" cy="1513332"/>
            </a:xfrm>
            <a:custGeom>
              <a:avLst/>
              <a:gdLst/>
              <a:ahLst/>
              <a:cxnLst/>
              <a:rect r="r" b="b" t="t" l="l"/>
              <a:pathLst>
                <a:path h="1513332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52" r="0" b="-349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153862" y="7176021"/>
            <a:ext cx="487110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Complete Trip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53862" y="7741891"/>
            <a:ext cx="487110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Wrap up and review.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790775"/>
            <a:ext cx="9452677" cy="139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Teamwork Makes the Dream Work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8219" y="2431371"/>
            <a:ext cx="4652762" cy="2333511"/>
            <a:chOff x="0" y="0"/>
            <a:chExt cx="6203683" cy="31113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03696" cy="3111373"/>
            </a:xfrm>
            <a:custGeom>
              <a:avLst/>
              <a:gdLst/>
              <a:ahLst/>
              <a:cxnLst/>
              <a:rect r="r" b="b" t="t" l="l"/>
              <a:pathLst>
                <a:path h="3111373" w="6203696">
                  <a:moveTo>
                    <a:pt x="0" y="122174"/>
                  </a:moveTo>
                  <a:cubicBezTo>
                    <a:pt x="0" y="54737"/>
                    <a:pt x="54737" y="0"/>
                    <a:pt x="122174" y="0"/>
                  </a:cubicBezTo>
                  <a:lnTo>
                    <a:pt x="6081522" y="0"/>
                  </a:lnTo>
                  <a:cubicBezTo>
                    <a:pt x="6148959" y="0"/>
                    <a:pt x="6203696" y="54737"/>
                    <a:pt x="6203696" y="122174"/>
                  </a:cubicBezTo>
                  <a:lnTo>
                    <a:pt x="6203696" y="2989199"/>
                  </a:lnTo>
                  <a:cubicBezTo>
                    <a:pt x="6203696" y="3056636"/>
                    <a:pt x="6148959" y="3111373"/>
                    <a:pt x="6081522" y="3111373"/>
                  </a:cubicBezTo>
                  <a:lnTo>
                    <a:pt x="122174" y="3111373"/>
                  </a:lnTo>
                  <a:cubicBezTo>
                    <a:pt x="54737" y="3111373"/>
                    <a:pt x="0" y="3056636"/>
                    <a:pt x="0" y="2989199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19676" y="2662828"/>
            <a:ext cx="651615" cy="651634"/>
            <a:chOff x="0" y="0"/>
            <a:chExt cx="868820" cy="8688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8807" cy="868807"/>
            </a:xfrm>
            <a:custGeom>
              <a:avLst/>
              <a:gdLst/>
              <a:ahLst/>
              <a:cxnLst/>
              <a:rect r="r" b="b" t="t" l="l"/>
              <a:pathLst>
                <a:path h="868807" w="868807">
                  <a:moveTo>
                    <a:pt x="0" y="434467"/>
                  </a:moveTo>
                  <a:cubicBezTo>
                    <a:pt x="0" y="194437"/>
                    <a:pt x="194437" y="0"/>
                    <a:pt x="434467" y="0"/>
                  </a:cubicBezTo>
                  <a:cubicBezTo>
                    <a:pt x="674497" y="0"/>
                    <a:pt x="868807" y="194437"/>
                    <a:pt x="868807" y="434467"/>
                  </a:cubicBezTo>
                  <a:cubicBezTo>
                    <a:pt x="868807" y="674497"/>
                    <a:pt x="674370" y="868807"/>
                    <a:pt x="434467" y="868807"/>
                  </a:cubicBezTo>
                  <a:cubicBezTo>
                    <a:pt x="194564" y="868807"/>
                    <a:pt x="0" y="674370"/>
                    <a:pt x="0" y="434467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398851" y="2842012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14" t="0" r="-161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19676" y="3461633"/>
            <a:ext cx="4189857" cy="3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Invite Code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9676" y="3881676"/>
            <a:ext cx="4189857" cy="65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Share unique codes to add members instantly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97667" y="2431371"/>
            <a:ext cx="4652762" cy="2333511"/>
            <a:chOff x="0" y="0"/>
            <a:chExt cx="6203683" cy="31113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03696" cy="3111373"/>
            </a:xfrm>
            <a:custGeom>
              <a:avLst/>
              <a:gdLst/>
              <a:ahLst/>
              <a:cxnLst/>
              <a:rect r="r" b="b" t="t" l="l"/>
              <a:pathLst>
                <a:path h="3111373" w="6203696">
                  <a:moveTo>
                    <a:pt x="0" y="122174"/>
                  </a:moveTo>
                  <a:cubicBezTo>
                    <a:pt x="0" y="54737"/>
                    <a:pt x="54737" y="0"/>
                    <a:pt x="122174" y="0"/>
                  </a:cubicBezTo>
                  <a:lnTo>
                    <a:pt x="6081522" y="0"/>
                  </a:lnTo>
                  <a:cubicBezTo>
                    <a:pt x="6148959" y="0"/>
                    <a:pt x="6203696" y="54737"/>
                    <a:pt x="6203696" y="122174"/>
                  </a:cubicBezTo>
                  <a:lnTo>
                    <a:pt x="6203696" y="2989199"/>
                  </a:lnTo>
                  <a:cubicBezTo>
                    <a:pt x="6203696" y="3056636"/>
                    <a:pt x="6148959" y="3111373"/>
                    <a:pt x="6081522" y="3111373"/>
                  </a:cubicBezTo>
                  <a:lnTo>
                    <a:pt x="122174" y="3111373"/>
                  </a:lnTo>
                  <a:cubicBezTo>
                    <a:pt x="54737" y="3111373"/>
                    <a:pt x="0" y="3056636"/>
                    <a:pt x="0" y="2989199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029125" y="2662828"/>
            <a:ext cx="651615" cy="651634"/>
            <a:chOff x="0" y="0"/>
            <a:chExt cx="868820" cy="8688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807" cy="868807"/>
            </a:xfrm>
            <a:custGeom>
              <a:avLst/>
              <a:gdLst/>
              <a:ahLst/>
              <a:cxnLst/>
              <a:rect r="r" b="b" t="t" l="l"/>
              <a:pathLst>
                <a:path h="868807" w="868807">
                  <a:moveTo>
                    <a:pt x="0" y="434467"/>
                  </a:moveTo>
                  <a:cubicBezTo>
                    <a:pt x="0" y="194437"/>
                    <a:pt x="194437" y="0"/>
                    <a:pt x="434467" y="0"/>
                  </a:cubicBezTo>
                  <a:cubicBezTo>
                    <a:pt x="674497" y="0"/>
                    <a:pt x="868807" y="194437"/>
                    <a:pt x="868807" y="434467"/>
                  </a:cubicBezTo>
                  <a:cubicBezTo>
                    <a:pt x="868807" y="674497"/>
                    <a:pt x="674370" y="868807"/>
                    <a:pt x="434467" y="868807"/>
                  </a:cubicBezTo>
                  <a:cubicBezTo>
                    <a:pt x="194564" y="868807"/>
                    <a:pt x="0" y="674370"/>
                    <a:pt x="0" y="434467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6208300" y="2842012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9028" r="0" b="-29028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029125" y="3461633"/>
            <a:ext cx="4189857" cy="3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Team Synchronization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29125" y="3881676"/>
            <a:ext cx="4189857" cy="34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Real-time updates across all devices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8219" y="4921577"/>
            <a:ext cx="4652762" cy="2026691"/>
            <a:chOff x="0" y="0"/>
            <a:chExt cx="6203683" cy="2702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03569" cy="2702179"/>
            </a:xfrm>
            <a:custGeom>
              <a:avLst/>
              <a:gdLst/>
              <a:ahLst/>
              <a:cxnLst/>
              <a:rect r="r" b="b" t="t" l="l"/>
              <a:pathLst>
                <a:path h="2702179" w="6203569">
                  <a:moveTo>
                    <a:pt x="0" y="122174"/>
                  </a:moveTo>
                  <a:cubicBezTo>
                    <a:pt x="0" y="54737"/>
                    <a:pt x="54737" y="0"/>
                    <a:pt x="122174" y="0"/>
                  </a:cubicBezTo>
                  <a:lnTo>
                    <a:pt x="6081395" y="0"/>
                  </a:lnTo>
                  <a:cubicBezTo>
                    <a:pt x="6148959" y="0"/>
                    <a:pt x="6203569" y="54737"/>
                    <a:pt x="6203569" y="122174"/>
                  </a:cubicBezTo>
                  <a:lnTo>
                    <a:pt x="6203569" y="2580005"/>
                  </a:lnTo>
                  <a:cubicBezTo>
                    <a:pt x="6203569" y="2647569"/>
                    <a:pt x="6148832" y="2702179"/>
                    <a:pt x="6081395" y="2702179"/>
                  </a:cubicBezTo>
                  <a:lnTo>
                    <a:pt x="122174" y="2702179"/>
                  </a:lnTo>
                  <a:cubicBezTo>
                    <a:pt x="54610" y="2702179"/>
                    <a:pt x="0" y="2647442"/>
                    <a:pt x="0" y="258000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19676" y="5153035"/>
            <a:ext cx="651615" cy="651634"/>
            <a:chOff x="0" y="0"/>
            <a:chExt cx="868820" cy="8688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8807" cy="868807"/>
            </a:xfrm>
            <a:custGeom>
              <a:avLst/>
              <a:gdLst/>
              <a:ahLst/>
              <a:cxnLst/>
              <a:rect r="r" b="b" t="t" l="l"/>
              <a:pathLst>
                <a:path h="868807" w="868807">
                  <a:moveTo>
                    <a:pt x="0" y="434467"/>
                  </a:moveTo>
                  <a:cubicBezTo>
                    <a:pt x="0" y="194437"/>
                    <a:pt x="194437" y="0"/>
                    <a:pt x="434467" y="0"/>
                  </a:cubicBezTo>
                  <a:cubicBezTo>
                    <a:pt x="674497" y="0"/>
                    <a:pt x="868807" y="194437"/>
                    <a:pt x="868807" y="434467"/>
                  </a:cubicBezTo>
                  <a:cubicBezTo>
                    <a:pt x="868807" y="674497"/>
                    <a:pt x="674370" y="868807"/>
                    <a:pt x="434467" y="868807"/>
                  </a:cubicBezTo>
                  <a:cubicBezTo>
                    <a:pt x="194564" y="868807"/>
                    <a:pt x="0" y="674370"/>
                    <a:pt x="0" y="434467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398851" y="5332209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14" t="0" r="-1614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19676" y="5951839"/>
            <a:ext cx="4189857" cy="3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Shared Dashboard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676" y="6371873"/>
            <a:ext cx="4189857" cy="34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Central hub for all trip information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797667" y="4921577"/>
            <a:ext cx="4652762" cy="2026691"/>
            <a:chOff x="0" y="0"/>
            <a:chExt cx="6203683" cy="27022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03569" cy="2702179"/>
            </a:xfrm>
            <a:custGeom>
              <a:avLst/>
              <a:gdLst/>
              <a:ahLst/>
              <a:cxnLst/>
              <a:rect r="r" b="b" t="t" l="l"/>
              <a:pathLst>
                <a:path h="2702179" w="6203569">
                  <a:moveTo>
                    <a:pt x="0" y="122174"/>
                  </a:moveTo>
                  <a:cubicBezTo>
                    <a:pt x="0" y="54737"/>
                    <a:pt x="54737" y="0"/>
                    <a:pt x="122174" y="0"/>
                  </a:cubicBezTo>
                  <a:lnTo>
                    <a:pt x="6081395" y="0"/>
                  </a:lnTo>
                  <a:cubicBezTo>
                    <a:pt x="6148959" y="0"/>
                    <a:pt x="6203569" y="54737"/>
                    <a:pt x="6203569" y="122174"/>
                  </a:cubicBezTo>
                  <a:lnTo>
                    <a:pt x="6203569" y="2580005"/>
                  </a:lnTo>
                  <a:cubicBezTo>
                    <a:pt x="6203569" y="2647569"/>
                    <a:pt x="6148832" y="2702179"/>
                    <a:pt x="6081395" y="2702179"/>
                  </a:cubicBezTo>
                  <a:lnTo>
                    <a:pt x="122174" y="2702179"/>
                  </a:lnTo>
                  <a:cubicBezTo>
                    <a:pt x="54610" y="2702179"/>
                    <a:pt x="0" y="2647442"/>
                    <a:pt x="0" y="258000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029125" y="5153035"/>
            <a:ext cx="651615" cy="651634"/>
            <a:chOff x="0" y="0"/>
            <a:chExt cx="868820" cy="868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8807" cy="868807"/>
            </a:xfrm>
            <a:custGeom>
              <a:avLst/>
              <a:gdLst/>
              <a:ahLst/>
              <a:cxnLst/>
              <a:rect r="r" b="b" t="t" l="l"/>
              <a:pathLst>
                <a:path h="868807" w="868807">
                  <a:moveTo>
                    <a:pt x="0" y="434467"/>
                  </a:moveTo>
                  <a:cubicBezTo>
                    <a:pt x="0" y="194437"/>
                    <a:pt x="194437" y="0"/>
                    <a:pt x="434467" y="0"/>
                  </a:cubicBezTo>
                  <a:cubicBezTo>
                    <a:pt x="674497" y="0"/>
                    <a:pt x="868807" y="194437"/>
                    <a:pt x="868807" y="434467"/>
                  </a:cubicBezTo>
                  <a:cubicBezTo>
                    <a:pt x="868807" y="674497"/>
                    <a:pt x="674370" y="868807"/>
                    <a:pt x="434467" y="868807"/>
                  </a:cubicBezTo>
                  <a:cubicBezTo>
                    <a:pt x="194564" y="868807"/>
                    <a:pt x="0" y="674370"/>
                    <a:pt x="0" y="434467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6208300" y="5332209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3225" r="0" b="-3221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029125" y="5951839"/>
            <a:ext cx="4189857" cy="3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Collaborative Itinerary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29125" y="6371873"/>
            <a:ext cx="4189857" cy="34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Plan together, stay aligned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88219" y="7104955"/>
            <a:ext cx="4652762" cy="2365981"/>
            <a:chOff x="0" y="0"/>
            <a:chExt cx="6203683" cy="31546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03696" cy="3154680"/>
            </a:xfrm>
            <a:custGeom>
              <a:avLst/>
              <a:gdLst/>
              <a:ahLst/>
              <a:cxnLst/>
              <a:rect r="r" b="b" t="t" l="l"/>
              <a:pathLst>
                <a:path h="3154680" w="6203696">
                  <a:moveTo>
                    <a:pt x="0" y="122174"/>
                  </a:moveTo>
                  <a:cubicBezTo>
                    <a:pt x="0" y="54737"/>
                    <a:pt x="54737" y="0"/>
                    <a:pt x="122174" y="0"/>
                  </a:cubicBezTo>
                  <a:lnTo>
                    <a:pt x="6081522" y="0"/>
                  </a:lnTo>
                  <a:cubicBezTo>
                    <a:pt x="6148959" y="0"/>
                    <a:pt x="6203696" y="54737"/>
                    <a:pt x="6203696" y="122174"/>
                  </a:cubicBezTo>
                  <a:lnTo>
                    <a:pt x="6203696" y="3032506"/>
                  </a:lnTo>
                  <a:cubicBezTo>
                    <a:pt x="6203696" y="3099943"/>
                    <a:pt x="6148959" y="3154680"/>
                    <a:pt x="6081522" y="3154680"/>
                  </a:cubicBezTo>
                  <a:lnTo>
                    <a:pt x="122174" y="3154680"/>
                  </a:lnTo>
                  <a:cubicBezTo>
                    <a:pt x="54737" y="3154680"/>
                    <a:pt x="0" y="3099943"/>
                    <a:pt x="0" y="3032506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19676" y="7336412"/>
            <a:ext cx="651615" cy="651634"/>
            <a:chOff x="0" y="0"/>
            <a:chExt cx="868820" cy="8688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8807" cy="868807"/>
            </a:xfrm>
            <a:custGeom>
              <a:avLst/>
              <a:gdLst/>
              <a:ahLst/>
              <a:cxnLst/>
              <a:rect r="r" b="b" t="t" l="l"/>
              <a:pathLst>
                <a:path h="868807" w="868807">
                  <a:moveTo>
                    <a:pt x="0" y="434467"/>
                  </a:moveTo>
                  <a:cubicBezTo>
                    <a:pt x="0" y="194437"/>
                    <a:pt x="194437" y="0"/>
                    <a:pt x="434467" y="0"/>
                  </a:cubicBezTo>
                  <a:cubicBezTo>
                    <a:pt x="674497" y="0"/>
                    <a:pt x="868807" y="194437"/>
                    <a:pt x="868807" y="434467"/>
                  </a:cubicBezTo>
                  <a:cubicBezTo>
                    <a:pt x="868807" y="674497"/>
                    <a:pt x="674370" y="868807"/>
                    <a:pt x="434467" y="868807"/>
                  </a:cubicBezTo>
                  <a:cubicBezTo>
                    <a:pt x="194564" y="868807"/>
                    <a:pt x="0" y="674370"/>
                    <a:pt x="0" y="434467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43" id="43" descr="preencoded.png"/>
          <p:cNvSpPr/>
          <p:nvPr/>
        </p:nvSpPr>
        <p:spPr>
          <a:xfrm flipH="false" flipV="false" rot="0">
            <a:off x="1398851" y="7515587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4835" r="0" b="-4839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219676" y="8135217"/>
            <a:ext cx="4189857" cy="3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Shared Task Checklist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9676" y="8555250"/>
            <a:ext cx="4189857" cy="34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Assign and track responsibilities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797667" y="7104955"/>
            <a:ext cx="4652762" cy="2365981"/>
            <a:chOff x="0" y="0"/>
            <a:chExt cx="6203683" cy="315464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03696" cy="3154680"/>
            </a:xfrm>
            <a:custGeom>
              <a:avLst/>
              <a:gdLst/>
              <a:ahLst/>
              <a:cxnLst/>
              <a:rect r="r" b="b" t="t" l="l"/>
              <a:pathLst>
                <a:path h="3154680" w="6203696">
                  <a:moveTo>
                    <a:pt x="0" y="122174"/>
                  </a:moveTo>
                  <a:cubicBezTo>
                    <a:pt x="0" y="54737"/>
                    <a:pt x="54737" y="0"/>
                    <a:pt x="122174" y="0"/>
                  </a:cubicBezTo>
                  <a:lnTo>
                    <a:pt x="6081522" y="0"/>
                  </a:lnTo>
                  <a:cubicBezTo>
                    <a:pt x="6148959" y="0"/>
                    <a:pt x="6203696" y="54737"/>
                    <a:pt x="6203696" y="122174"/>
                  </a:cubicBezTo>
                  <a:lnTo>
                    <a:pt x="6203696" y="3032506"/>
                  </a:lnTo>
                  <a:cubicBezTo>
                    <a:pt x="6203696" y="3099943"/>
                    <a:pt x="6148959" y="3154680"/>
                    <a:pt x="6081522" y="3154680"/>
                  </a:cubicBezTo>
                  <a:lnTo>
                    <a:pt x="122174" y="3154680"/>
                  </a:lnTo>
                  <a:cubicBezTo>
                    <a:pt x="54737" y="3154680"/>
                    <a:pt x="0" y="3099943"/>
                    <a:pt x="0" y="3032506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029125" y="7336412"/>
            <a:ext cx="651615" cy="651634"/>
            <a:chOff x="0" y="0"/>
            <a:chExt cx="868820" cy="8688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68807" cy="868807"/>
            </a:xfrm>
            <a:custGeom>
              <a:avLst/>
              <a:gdLst/>
              <a:ahLst/>
              <a:cxnLst/>
              <a:rect r="r" b="b" t="t" l="l"/>
              <a:pathLst>
                <a:path h="868807" w="868807">
                  <a:moveTo>
                    <a:pt x="0" y="434467"/>
                  </a:moveTo>
                  <a:cubicBezTo>
                    <a:pt x="0" y="194437"/>
                    <a:pt x="194437" y="0"/>
                    <a:pt x="434467" y="0"/>
                  </a:cubicBezTo>
                  <a:cubicBezTo>
                    <a:pt x="674497" y="0"/>
                    <a:pt x="868807" y="194437"/>
                    <a:pt x="868807" y="434467"/>
                  </a:cubicBezTo>
                  <a:cubicBezTo>
                    <a:pt x="868807" y="674497"/>
                    <a:pt x="674370" y="868807"/>
                    <a:pt x="434467" y="868807"/>
                  </a:cubicBezTo>
                  <a:cubicBezTo>
                    <a:pt x="194564" y="868807"/>
                    <a:pt x="0" y="674370"/>
                    <a:pt x="0" y="434467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50" id="50" descr="preencoded.png"/>
          <p:cNvSpPr/>
          <p:nvPr/>
        </p:nvSpPr>
        <p:spPr>
          <a:xfrm flipH="false" flipV="false" rot="0">
            <a:off x="6208300" y="7515587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1289" r="0" b="-11286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6029125" y="8135217"/>
            <a:ext cx="4189857" cy="69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Real-Time Trip Organization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029125" y="8894550"/>
            <a:ext cx="4189857" cy="34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Instant notifications and updates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94661"/>
            <a:ext cx="16315868" cy="92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Smart Expense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383431"/>
            <a:ext cx="7817301" cy="46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Expense Categories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157623"/>
            <a:ext cx="7817301" cy="5626970"/>
            <a:chOff x="0" y="0"/>
            <a:chExt cx="10423068" cy="750262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423017" cy="7502652"/>
            </a:xfrm>
            <a:custGeom>
              <a:avLst/>
              <a:gdLst/>
              <a:ahLst/>
              <a:cxnLst/>
              <a:rect r="r" b="b" t="t" l="l"/>
              <a:pathLst>
                <a:path h="7502652" w="10423017">
                  <a:moveTo>
                    <a:pt x="0" y="0"/>
                  </a:moveTo>
                  <a:lnTo>
                    <a:pt x="10423017" y="0"/>
                  </a:lnTo>
                  <a:lnTo>
                    <a:pt x="10423017" y="7502652"/>
                  </a:lnTo>
                  <a:lnTo>
                    <a:pt x="0" y="7502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501083" y="2383431"/>
            <a:ext cx="7817301" cy="46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501083" y="3157623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709" r="0" b="-1270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03215" y="3081423"/>
            <a:ext cx="6915169" cy="51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Expense logging: Easy entry of all costs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501083" y="4266067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018" t="0" r="-1101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03215" y="4189867"/>
            <a:ext cx="6915169" cy="96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Automatic equal split: Fair distribution among travelers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501083" y="5702484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49" t="0" r="-84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403215" y="5626284"/>
            <a:ext cx="6915169" cy="96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Team finance dashboard: Visual overview of group spending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501083" y="7138911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0167" r="0" b="-10167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403215" y="7062711"/>
            <a:ext cx="6915169" cy="51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Debt calculation: Clearly identifies who owes whom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501083" y="8247355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845" r="0" b="-84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403215" y="8171155"/>
            <a:ext cx="6915169" cy="96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Budget tracking: Helps stay within planned spending limits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1345016"/>
            <a:ext cx="9452677" cy="183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Global Currency Support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3524831"/>
            <a:ext cx="9452677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Travel the world without currency confusion. Instantly switch currencies throughout the application.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92991" y="4828184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9164" r="0" b="-916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15077" y="4751984"/>
            <a:ext cx="362685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INR (Indian Rupee)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5896566" y="4828184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1663" r="0" b="-5166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18662" y="4751984"/>
            <a:ext cx="3627006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USD (US Dollar)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991" y="5963145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998" r="0" b="-999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15077" y="5886945"/>
            <a:ext cx="362685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EUR (Euro)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5896566" y="5963145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9998" r="0" b="-19997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818662" y="5886945"/>
            <a:ext cx="3627006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GBP (British Pound)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991" y="7098097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15077" y="7021897"/>
            <a:ext cx="3626853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JPY (Japanese Yen)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991" y="7908569"/>
            <a:ext cx="9452677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All budgets, expenses, statistics, and financial summaries automatically update when you switch currencies.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178653"/>
            <a:ext cx="16315868" cy="57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3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Building Trust in Travel Communities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419951"/>
            <a:ext cx="8151828" cy="57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3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Profile Information Collected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4207145"/>
            <a:ext cx="8151828" cy="264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Age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Phone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Residence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Emergency 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46621" y="3419951"/>
            <a:ext cx="7471610" cy="57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3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Trust Score Calculation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46621" y="4318797"/>
            <a:ext cx="7471610" cy="3430638"/>
            <a:chOff x="0" y="0"/>
            <a:chExt cx="9962147" cy="4574184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962134" cy="4574159"/>
            </a:xfrm>
            <a:custGeom>
              <a:avLst/>
              <a:gdLst/>
              <a:ahLst/>
              <a:cxnLst/>
              <a:rect r="r" b="b" t="t" l="l"/>
              <a:pathLst>
                <a:path h="4574159" w="9962134">
                  <a:moveTo>
                    <a:pt x="0" y="0"/>
                  </a:moveTo>
                  <a:lnTo>
                    <a:pt x="9962134" y="0"/>
                  </a:lnTo>
                  <a:lnTo>
                    <a:pt x="9962134" y="4574159"/>
                  </a:lnTo>
                  <a:lnTo>
                    <a:pt x="0" y="4574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48179"/>
            <a:ext cx="16315868" cy="71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Security &amp; Privacy First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078241"/>
            <a:ext cx="8507054" cy="45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Security Features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2819371"/>
            <a:ext cx="8507054" cy="1145086"/>
          </a:xfrm>
          <a:custGeom>
            <a:avLst/>
            <a:gdLst/>
            <a:ahLst/>
            <a:cxnLst/>
            <a:rect r="r" b="b" t="t" l="l"/>
            <a:pathLst>
              <a:path h="1145086" w="8507054">
                <a:moveTo>
                  <a:pt x="0" y="0"/>
                </a:moveTo>
                <a:lnTo>
                  <a:pt x="8507054" y="0"/>
                </a:lnTo>
                <a:lnTo>
                  <a:pt x="8507054" y="1145086"/>
                </a:lnTo>
                <a:lnTo>
                  <a:pt x="0" y="1145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91" r="0" b="-69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53963" y="3042114"/>
            <a:ext cx="7737624" cy="61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62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Password hashing using Bcrypt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991" y="4222128"/>
            <a:ext cx="8507054" cy="1145086"/>
          </a:xfrm>
          <a:custGeom>
            <a:avLst/>
            <a:gdLst/>
            <a:ahLst/>
            <a:cxnLst/>
            <a:rect r="r" b="b" t="t" l="l"/>
            <a:pathLst>
              <a:path h="1145086" w="8507054">
                <a:moveTo>
                  <a:pt x="0" y="0"/>
                </a:moveTo>
                <a:lnTo>
                  <a:pt x="8507054" y="0"/>
                </a:lnTo>
                <a:lnTo>
                  <a:pt x="8507054" y="1145086"/>
                </a:lnTo>
                <a:lnTo>
                  <a:pt x="0" y="1145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91" r="0" b="-69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53963" y="4444870"/>
            <a:ext cx="7737624" cy="61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62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JWT Authentication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92991" y="5624884"/>
            <a:ext cx="8507054" cy="1145086"/>
          </a:xfrm>
          <a:custGeom>
            <a:avLst/>
            <a:gdLst/>
            <a:ahLst/>
            <a:cxnLst/>
            <a:rect r="r" b="b" t="t" l="l"/>
            <a:pathLst>
              <a:path h="1145086" w="8507054">
                <a:moveTo>
                  <a:pt x="0" y="0"/>
                </a:moveTo>
                <a:lnTo>
                  <a:pt x="8507054" y="0"/>
                </a:lnTo>
                <a:lnTo>
                  <a:pt x="8507054" y="1145086"/>
                </a:lnTo>
                <a:lnTo>
                  <a:pt x="0" y="1145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91" r="0" b="-69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53963" y="5847626"/>
            <a:ext cx="7737624" cy="61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62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Protected REST APIs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991" y="7027650"/>
            <a:ext cx="8507054" cy="1145086"/>
          </a:xfrm>
          <a:custGeom>
            <a:avLst/>
            <a:gdLst/>
            <a:ahLst/>
            <a:cxnLst/>
            <a:rect r="r" b="b" t="t" l="l"/>
            <a:pathLst>
              <a:path h="1145086" w="8507054">
                <a:moveTo>
                  <a:pt x="0" y="0"/>
                </a:moveTo>
                <a:lnTo>
                  <a:pt x="8507054" y="0"/>
                </a:lnTo>
                <a:lnTo>
                  <a:pt x="8507054" y="1145086"/>
                </a:lnTo>
                <a:lnTo>
                  <a:pt x="0" y="1145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91" r="0" b="-69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53963" y="7250382"/>
            <a:ext cx="7737624" cy="61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62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Secure Authorization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69376" y="2078241"/>
            <a:ext cx="7148855" cy="45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Privacy Protection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69376" y="2720378"/>
            <a:ext cx="8063951" cy="48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Only essential data is collected and protected in transit.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84294" y="3499599"/>
            <a:ext cx="5719029" cy="5719172"/>
            <a:chOff x="0" y="0"/>
            <a:chExt cx="7625372" cy="7625563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625334" cy="7625588"/>
            </a:xfrm>
            <a:custGeom>
              <a:avLst/>
              <a:gdLst/>
              <a:ahLst/>
              <a:cxnLst/>
              <a:rect r="r" b="b" t="t" l="l"/>
              <a:pathLst>
                <a:path h="7625588" w="7625334">
                  <a:moveTo>
                    <a:pt x="0" y="0"/>
                  </a:moveTo>
                  <a:lnTo>
                    <a:pt x="7625334" y="0"/>
                  </a:lnTo>
                  <a:lnTo>
                    <a:pt x="7625334" y="7625588"/>
                  </a:lnTo>
                  <a:lnTo>
                    <a:pt x="0" y="7625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50713"/>
            <a:ext cx="16315868" cy="65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Database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843935"/>
            <a:ext cx="16315868" cy="7662301"/>
            <a:chOff x="0" y="0"/>
            <a:chExt cx="21754490" cy="1021640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754464" cy="10216388"/>
            </a:xfrm>
            <a:custGeom>
              <a:avLst/>
              <a:gdLst/>
              <a:ahLst/>
              <a:cxnLst/>
              <a:rect r="r" b="b" t="t" l="l"/>
              <a:pathLst>
                <a:path h="10216388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10216388"/>
                  </a:lnTo>
                  <a:lnTo>
                    <a:pt x="0" y="10216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89893" y="7563079"/>
            <a:ext cx="3579990" cy="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Users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8429" y="8175984"/>
            <a:ext cx="4391454" cy="3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8"/>
              </a:lnSpc>
            </a:pPr>
            <a:r>
              <a:rPr lang="en-US" sz="22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Account records and credentials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43209" y="6314027"/>
            <a:ext cx="3579990" cy="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User Profiles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43209" y="6926932"/>
            <a:ext cx="4280078" cy="3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Profile details linked to users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9645" y="5176361"/>
            <a:ext cx="3579990" cy="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Trips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8182" y="5789266"/>
            <a:ext cx="4391454" cy="3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8"/>
              </a:lnSpc>
            </a:pPr>
            <a:r>
              <a:rPr lang="en-US" sz="22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Trip master records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43209" y="3831841"/>
            <a:ext cx="3579990" cy="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Trip Members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43209" y="4444746"/>
            <a:ext cx="4280078" cy="3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Joins users to trips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89893" y="2789644"/>
            <a:ext cx="3579990" cy="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Trip Resources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8429" y="3402549"/>
            <a:ext cx="4391454" cy="3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8"/>
              </a:lnSpc>
            </a:pPr>
            <a:r>
              <a:rPr lang="en-US" sz="22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Tasks, expenses, itinerary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51742"/>
            <a:ext cx="16315868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Roadmap &amp; Future Vision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365371"/>
            <a:ext cx="14641468" cy="8236039"/>
            <a:chOff x="0" y="0"/>
            <a:chExt cx="19521957" cy="1098138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9521932" cy="10981436"/>
            </a:xfrm>
            <a:custGeom>
              <a:avLst/>
              <a:gdLst/>
              <a:ahLst/>
              <a:cxnLst/>
              <a:rect r="r" b="b" t="t" l="l"/>
              <a:pathLst>
                <a:path h="10981436" w="19521932">
                  <a:moveTo>
                    <a:pt x="0" y="0"/>
                  </a:moveTo>
                  <a:lnTo>
                    <a:pt x="19521932" y="0"/>
                  </a:lnTo>
                  <a:lnTo>
                    <a:pt x="19521932" y="10981436"/>
                  </a:lnTo>
                  <a:lnTo>
                    <a:pt x="0" y="1098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2928595"/>
            <a:ext cx="9452677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4221737"/>
            <a:ext cx="9452677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TripSync is a modern collaborative travel planning platform that combines trip organization, budgeting, task management, traveler verification, and secure collaboration into one user-friendly application.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6018752"/>
            <a:ext cx="9452677" cy="129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4"/>
              </a:lnSpc>
            </a:pPr>
            <a:r>
              <a:rPr lang="en-US" sz="765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DAHO7McdIsI</dc:identifier>
  <dcterms:modified xsi:type="dcterms:W3CDTF">2011-08-01T06:04:30Z</dcterms:modified>
  <cp:revision>1</cp:revision>
  <dc:title>TripSync.pptx</dc:title>
</cp:coreProperties>
</file>